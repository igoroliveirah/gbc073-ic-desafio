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61" autoAdjust="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77466"/>
            <a:ext cx="800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8FAFC"/>
                </a:solidFill>
                <a:latin typeface="Urbanist"/>
              </a:rPr>
              <a:t>GBC073 — </a:t>
            </a:r>
            <a:r>
              <a:rPr sz="1950" b="1" i="0" u="none" dirty="0" err="1">
                <a:solidFill>
                  <a:srgbClr val="F8FAFC"/>
                </a:solidFill>
                <a:latin typeface="Urbanist"/>
              </a:rPr>
              <a:t>Inteligência</a:t>
            </a:r>
            <a:r>
              <a:rPr sz="1950" b="1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sz="1950" b="1" i="0" u="none" dirty="0" err="1">
                <a:solidFill>
                  <a:srgbClr val="F8FAFC"/>
                </a:solidFill>
                <a:latin typeface="Urbanist"/>
              </a:rPr>
              <a:t>Computacional</a:t>
            </a:r>
            <a:endParaRPr sz="1950" b="1" i="0" u="none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277516"/>
            <a:ext cx="8001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362"/>
              </a:lnSpc>
            </a:pPr>
            <a:r>
              <a:rPr lang="pt-BR" sz="4875" b="1" dirty="0">
                <a:solidFill>
                  <a:srgbClr val="F8FAFC"/>
                </a:solidFill>
                <a:latin typeface="Urbanist"/>
              </a:rPr>
              <a:t>Mapa de </a:t>
            </a:r>
            <a:r>
              <a:rPr lang="pt-BR" sz="4875" b="1" dirty="0">
                <a:solidFill>
                  <a:srgbClr val="0070C0"/>
                </a:solidFill>
                <a:latin typeface="Urbanist"/>
              </a:rPr>
              <a:t>características</a:t>
            </a:r>
            <a:r>
              <a:rPr sz="4875" b="1" i="0" u="none" dirty="0">
                <a:solidFill>
                  <a:srgbClr val="F8FAFC"/>
                </a:solidFill>
                <a:latin typeface="Urbanist"/>
              </a:rPr>
              <a:t> para o Perceptron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85E146F-9BB1-DED5-A0F4-7D3B436638B7}"/>
              </a:ext>
            </a:extLst>
          </p:cNvPr>
          <p:cNvSpPr txBox="1"/>
          <p:nvPr/>
        </p:nvSpPr>
        <p:spPr>
          <a:xfrm>
            <a:off x="571500" y="4360009"/>
            <a:ext cx="8001000" cy="210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950" b="1" i="0" u="none" dirty="0">
                <a:solidFill>
                  <a:srgbClr val="F8FAFC"/>
                </a:solidFill>
                <a:latin typeface="Urbanist"/>
              </a:rPr>
              <a:t>Discentes: </a:t>
            </a:r>
          </a:p>
          <a:p>
            <a:pPr algn="l"/>
            <a:r>
              <a:rPr lang="pt-BR" sz="1950" i="0" u="none" dirty="0">
                <a:solidFill>
                  <a:srgbClr val="F8FAFC"/>
                </a:solidFill>
                <a:latin typeface="Urbanist"/>
              </a:rPr>
              <a:t>Igor Oliveira Souza e Silva</a:t>
            </a:r>
          </a:p>
          <a:p>
            <a:pPr algn="l"/>
            <a:r>
              <a:rPr lang="pt-BR" sz="1950" dirty="0">
                <a:solidFill>
                  <a:srgbClr val="F8FAFC"/>
                </a:solidFill>
                <a:latin typeface="Urbanist"/>
              </a:rPr>
              <a:t>Vinicius Resende Garcia</a:t>
            </a:r>
          </a:p>
          <a:p>
            <a:pPr algn="l"/>
            <a:r>
              <a:rPr lang="pt-BR" sz="18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Ihury</a:t>
            </a:r>
            <a:r>
              <a:rPr lang="pt-BR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8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Kewin</a:t>
            </a:r>
            <a:r>
              <a:rPr lang="pt-BR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Oliveira Costa</a:t>
            </a:r>
            <a:endParaRPr lang="pt-BR" sz="1950" dirty="0">
              <a:solidFill>
                <a:schemeClr val="bg1"/>
              </a:solidFill>
              <a:latin typeface="Urbanist"/>
            </a:endParaRPr>
          </a:p>
          <a:p>
            <a:pPr algn="l"/>
            <a:endParaRPr lang="pt-BR" sz="1950" b="1" i="0" u="none" dirty="0">
              <a:solidFill>
                <a:srgbClr val="F8FAFC"/>
              </a:solidFill>
              <a:latin typeface="Urbanist"/>
            </a:endParaRPr>
          </a:p>
          <a:p>
            <a:pPr algn="l"/>
            <a:r>
              <a:rPr lang="pt-BR" sz="1950" b="1" dirty="0">
                <a:solidFill>
                  <a:srgbClr val="F8FAFC"/>
                </a:solidFill>
                <a:latin typeface="Urbanist"/>
              </a:rPr>
              <a:t>Docente:  </a:t>
            </a:r>
          </a:p>
          <a:p>
            <a:pPr algn="l"/>
            <a:r>
              <a:rPr lang="pt-BR" sz="1950" i="0" u="none" dirty="0">
                <a:solidFill>
                  <a:srgbClr val="F8FAFC"/>
                </a:solidFill>
                <a:latin typeface="Urbanist"/>
              </a:rPr>
              <a:t>Dr. Marcelo </a:t>
            </a:r>
            <a:r>
              <a:rPr lang="pt-BR" sz="1950" i="0" u="none" dirty="0" err="1">
                <a:solidFill>
                  <a:srgbClr val="F8FAFC"/>
                </a:solidFill>
                <a:latin typeface="Urbanist"/>
              </a:rPr>
              <a:t>Keese</a:t>
            </a:r>
            <a:r>
              <a:rPr lang="pt-BR" sz="1950" i="0" u="none" dirty="0">
                <a:solidFill>
                  <a:srgbClr val="F8FAFC"/>
                </a:solidFill>
                <a:latin typeface="Urbanist"/>
              </a:rPr>
              <a:t> Albertini</a:t>
            </a:r>
            <a:endParaRPr sz="1950" i="0" u="none" dirty="0">
              <a:solidFill>
                <a:srgbClr val="F8FAFC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1476375"/>
            <a:ext cx="645795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4238625"/>
            <a:ext cx="6457950" cy="2381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652587"/>
            <a:ext cx="452056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O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71687"/>
            <a:ext cx="4305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A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estratégia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concatenar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>
                <a:solidFill>
                  <a:srgbClr val="38BDF8"/>
                </a:solidFill>
                <a:latin typeface="Inter"/>
              </a:rPr>
              <a:t>[X, X²]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foi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insuficiente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para resolver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fronteiras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não-lineares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complexas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(XOR,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Espiral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81337"/>
            <a:ext cx="4305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EF4444"/>
                </a:solidFill>
                <a:latin typeface="Fira Code"/>
              </a:rPr>
              <a:t>S = 34.0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14837"/>
            <a:ext cx="452056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A Nova Arquitetura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833937"/>
            <a:ext cx="430530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Com as 5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novas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implementações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, o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modelo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superou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referência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em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Círculos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Espiral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Esfera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10D.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843587"/>
            <a:ext cx="4305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A3E635"/>
                </a:solidFill>
                <a:latin typeface="Fira Code"/>
              </a:rPr>
              <a:t>S = 101.1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8762" y="1628775"/>
            <a:ext cx="6105525" cy="2076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950" y="4391025"/>
            <a:ext cx="6153150" cy="2076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Evolução de Desempenho: </a:t>
            </a:r>
            <a:r>
              <a:rPr sz="3000" b="1" i="0" u="none">
                <a:solidFill>
                  <a:srgbClr val="38BDF8"/>
                </a:solidFill>
                <a:latin typeface="Inter"/>
              </a:rPr>
              <a:t>34.0 → 101.1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4875" y="1476375"/>
            <a:ext cx="5062788" cy="1204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pt-BR" sz="15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Problemática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abandonar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abordagem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do baseline 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projeções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(X @ W), surge um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pt-BR" sz="15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biblioteca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BLAS do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sofre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perdas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minúsculas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( 10^{-7})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float32.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228975"/>
            <a:ext cx="5062788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1500" b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</a:t>
            </a:r>
            <a:r>
              <a:rPr sz="1500" b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desvio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quebraria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associatividade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lotes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fazendo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validador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reprovar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submissão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teste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torch.allclose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o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"phi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determinística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676775"/>
            <a:ext cx="5062788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projeção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elevada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(float64). Com 53 bits de mantissa, 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cai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10^{-16},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garantindo</a:t>
            </a:r>
            <a:r>
              <a:rPr lang="pt-BR" sz="15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estabilidade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aceitação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validador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1. Prevenção do Bug do Float32 </a:t>
            </a:r>
            <a:r>
              <a:rPr sz="3000" b="1" i="0" u="none">
                <a:solidFill>
                  <a:srgbClr val="38BDF8"/>
                </a:solidFill>
                <a:latin typeface="Inter"/>
              </a:rPr>
              <a:t>(Determinismo)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5425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48025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95825"/>
            <a:ext cx="95250" cy="200025"/>
          </a:xfrm>
          <a:prstGeom prst="rect">
            <a:avLst/>
          </a:prstGeom>
        </p:spPr>
      </p:pic>
      <p:pic>
        <p:nvPicPr>
          <p:cNvPr id="20" name="Picture 2" descr="image.png">
            <a:extLst>
              <a:ext uri="{FF2B5EF4-FFF2-40B4-BE49-F238E27FC236}">
                <a16:creationId xmlns:a16="http://schemas.microsoft.com/office/drawing/2014/main" id="{6D7DE1C4-32F6-1916-FE3C-E055CF8B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26" y="2540707"/>
            <a:ext cx="4659999" cy="243431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4A20D18-D8E0-A85B-FC6E-16DCB75F8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042" y="3190637"/>
            <a:ext cx="4058216" cy="1705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5381625" cy="416142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71725"/>
            <a:ext cx="5381625" cy="4161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76375"/>
            <a:ext cx="11049000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estático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desperdiça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espaço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Dessa forma, </a:t>
            </a:r>
            <a:r>
              <a:rPr lang="pt-BR" sz="15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riamos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aloca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64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dinamicamente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base no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tamanho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entrada original d.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fórmula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 é: </a:t>
            </a:r>
            <a:r>
              <a:rPr sz="15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 = 64 - 2d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14625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76625"/>
            <a:ext cx="503062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Ambientes 2D </a:t>
            </a:r>
            <a:r>
              <a:rPr sz="1800" b="0" i="0" u="none">
                <a:solidFill>
                  <a:srgbClr val="64748B"/>
                </a:solidFill>
                <a:latin typeface="Inter"/>
              </a:rPr>
              <a:t>(Espiral, XOR, Luas)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714625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4150" y="3476625"/>
            <a:ext cx="503062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Ambientes 10D </a:t>
            </a:r>
            <a:r>
              <a:rPr sz="1800" b="0" i="0" u="none">
                <a:solidFill>
                  <a:srgbClr val="64748B"/>
                </a:solidFill>
                <a:latin typeface="Inter"/>
              </a:rPr>
              <a:t>(Esfera)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2867025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3461" y="4026318"/>
            <a:ext cx="4611103" cy="274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+ 2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quadráticos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462" y="4857750"/>
            <a:ext cx="4457700" cy="274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Restante: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60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livres.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462" y="5405845"/>
            <a:ext cx="4611102" cy="890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30 pares de Seno/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Cosseno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Máxima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espectral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resolver curvas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Espiral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837" y="2867025"/>
            <a:ext cx="23812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4181" y="3995502"/>
            <a:ext cx="4457700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(10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+ 10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quadráticos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0363" y="4869876"/>
            <a:ext cx="4457700" cy="274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Restante: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44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livres.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0837" y="5381625"/>
            <a:ext cx="46243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22 pares de Seno/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Cosseno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Orçamento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porém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distribuído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suportar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complexidade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F8FAFC"/>
                </a:solidFill>
                <a:latin typeface="Inter"/>
              </a:rPr>
              <a:t>2. </a:t>
            </a:r>
            <a:r>
              <a:rPr lang="pt-BR" sz="3000" b="1" dirty="0">
                <a:solidFill>
                  <a:srgbClr val="F8FAFC"/>
                </a:solidFill>
                <a:latin typeface="Inter"/>
              </a:rPr>
              <a:t>Dinamicidade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de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Dimensões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3000" b="1" i="0" u="none" dirty="0">
                <a:solidFill>
                  <a:srgbClr val="38BDF8"/>
                </a:solidFill>
                <a:latin typeface="Inter"/>
              </a:rPr>
              <a:t>(Budget)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029075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867275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5400675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029075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867275"/>
            <a:ext cx="952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540067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643187"/>
            <a:ext cx="5238750" cy="20907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Inter"/>
              </a:rPr>
              <a:t>Eliminando a Redundância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66975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vetores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normais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puros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direções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vetores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apontando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lugares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parecidos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Forçar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Ortogonalidade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nenhuma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64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dimensões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desperdiçada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876675"/>
            <a:ext cx="4905375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Decomposição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QR: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Usamos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torch.linalg.qr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extrair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perfeitamente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perpendiculares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(90º).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714875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Distribuição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Multiplicamos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vetores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ortogonais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sorteadas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preservar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natural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energia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kernel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Gaussiano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525" y="2986087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964" y="3633787"/>
            <a:ext cx="257032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Matemática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 da </a:t>
            </a: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Geração</a:t>
            </a:r>
            <a:endParaRPr sz="1650" b="1" i="0" u="none" dirty="0">
              <a:solidFill>
                <a:srgbClr val="F8FAFC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467" y="4081462"/>
            <a:ext cx="2703314" cy="214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3. Orthogonal Random Features </a:t>
            </a:r>
            <a:r>
              <a:rPr sz="3000" b="1" i="0" u="none">
                <a:solidFill>
                  <a:srgbClr val="38BDF8"/>
                </a:solidFill>
                <a:latin typeface="Inter"/>
              </a:rPr>
              <a:t>(ORF)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572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3392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5906"/>
            <a:ext cx="5238750" cy="836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179373"/>
            <a:ext cx="523875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Inspirado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Identidade</a:t>
            </a:r>
            <a:r>
              <a:rPr sz="1500" b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5125" y="1909762"/>
            <a:ext cx="4905375" cy="890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(b):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aproximação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RFF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sorteia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ângulo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b. Em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espaços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reduzida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variância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estática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aproximação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125" y="3662362"/>
            <a:ext cx="4905375" cy="582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Substituímos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aleatória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pela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projeção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simultânea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pares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simétricos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Cosseno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Seno.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4805362"/>
            <a:ext cx="5021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Essa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técnica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reduz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</a:t>
            </a: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Monte Carlo pela </a:t>
            </a:r>
            <a:r>
              <a:rPr sz="1500" b="0" i="0" u="none" dirty="0" err="1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gerando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superfícies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decisão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 Perceptron.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384" y="3483619"/>
            <a:ext cx="4078932" cy="320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4. Remoção da Fase Aleatória </a:t>
            </a:r>
            <a:r>
              <a:rPr sz="3000" b="1" i="0" u="none">
                <a:solidFill>
                  <a:srgbClr val="38BDF8"/>
                </a:solidFill>
                <a:latin typeface="Inter"/>
              </a:rPr>
              <a:t>(Cos + Sin)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928812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681412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82441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5631"/>
            <a:ext cx="2619375" cy="2767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3145631"/>
            <a:ext cx="2619375" cy="2767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145631"/>
            <a:ext cx="2619375" cy="2767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3145631"/>
            <a:ext cx="2619375" cy="27670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436" y="1443332"/>
            <a:ext cx="1104900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datasets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possuem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topologias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distintas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pesos W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dividida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calculados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mediana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para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permitir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o Perceptron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enxergue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tanto as micro 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macro-</a:t>
            </a:r>
            <a:r>
              <a:rPr sz="1500" b="0" i="0" u="none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topologias</a:t>
            </a:r>
            <a:r>
              <a:rPr sz="1500" b="0" i="0" u="none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393281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4155281"/>
            <a:ext cx="23302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Inter"/>
              </a:rPr>
              <a:t>0.2x \sigma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593431"/>
            <a:ext cx="2330291" cy="850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Alta Freq.</a:t>
            </a:r>
            <a:r>
              <a:rPr dirty="0"/>
              <a:t>
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Variações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ultrarrápidas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Essencial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separar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voltas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fechadas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dataset da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Espiral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3393281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81400" y="4155281"/>
            <a:ext cx="23302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Inter"/>
              </a:rPr>
              <a:t>0.5x \sigma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4593431"/>
            <a:ext cx="2219325" cy="855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-Alta.</a:t>
            </a: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detalhes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finos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fronteiras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curvas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oscilações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topológicas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393281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91275" y="4155281"/>
            <a:ext cx="23302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Inter"/>
              </a:rPr>
              <a:t>1.0x \sigma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4593431"/>
            <a:ext cx="2219325" cy="850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Freq. Base.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25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Mantém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natural dos dados,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baseada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mediana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distâncias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originais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</a:t>
            </a:r>
            <a:r>
              <a:rPr lang="pt-BR"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1150" y="3393281"/>
            <a:ext cx="571500" cy="57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01150" y="4155281"/>
            <a:ext cx="23302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Inter"/>
              </a:rPr>
              <a:t>2.5x \sigma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1150" y="4593431"/>
            <a:ext cx="2219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Baixa Freq.</a:t>
            </a: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Lente global longa e suave. Ideal para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separar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classes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contínuas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125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largas</a:t>
            </a:r>
            <a:r>
              <a:rPr sz="1125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(ex: Duas Luas).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587" y="3545681"/>
            <a:ext cx="33337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0" y="3545681"/>
            <a:ext cx="3048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7962" y="3545681"/>
            <a:ext cx="238125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0212" y="3545681"/>
            <a:ext cx="333375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5. Multi-escala de Frequências </a:t>
            </a:r>
            <a:r>
              <a:rPr sz="3000" b="1" i="0" u="none">
                <a:solidFill>
                  <a:srgbClr val="38BDF8"/>
                </a:solidFill>
                <a:latin typeface="Inter"/>
              </a:rPr>
              <a:t>(Múltiplas Lentes)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740348"/>
            <a:ext cx="8839200" cy="771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41401"/>
            <a:ext cx="11049000" cy="636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mapeamento entregue substitui a aleatoriedade por uma arquitetura matemática determinística, ortogonal e 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multiescalar</a:t>
            </a:r>
            <a:r>
              <a:rPr lang="pt-BR" sz="1600" dirty="0"/>
              <a:t>.</a:t>
            </a:r>
            <a:endParaRPr sz="1650" b="0" i="0" u="none" dirty="0">
              <a:solidFill>
                <a:srgbClr val="CBD5E1"/>
              </a:solidFill>
              <a:latin typeface="Inter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055" y="3979217"/>
            <a:ext cx="7633989" cy="2945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025" y="4988123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8875" y="4988123"/>
            <a:ext cx="1885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Inter"/>
              </a:rPr>
              <a:t>100% Determinística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5" y="4988123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19675" y="4988123"/>
            <a:ext cx="2066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00000"/>
                </a:solidFill>
                <a:latin typeface="Inter"/>
              </a:rPr>
              <a:t>Livre de </a:t>
            </a:r>
            <a:r>
              <a:rPr sz="1500" b="0" i="0" u="none" dirty="0" err="1">
                <a:solidFill>
                  <a:srgbClr val="000000"/>
                </a:solidFill>
                <a:latin typeface="Inter"/>
              </a:rPr>
              <a:t>Redundâncias</a:t>
            </a:r>
            <a:endParaRPr sz="1500" b="0" i="0" u="none" dirty="0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4988123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91450" y="4988123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Inter"/>
              </a:rPr>
              <a:t>Performance Multi-tarefa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Conclusão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: </a:t>
            </a:r>
            <a:r>
              <a:rPr sz="3000" b="1" i="0" u="none" dirty="0">
                <a:solidFill>
                  <a:srgbClr val="38BDF8"/>
                </a:solidFill>
                <a:latin typeface="Inter"/>
              </a:rPr>
              <a:t>O </a:t>
            </a:r>
            <a:r>
              <a:rPr sz="3000" b="1" i="0" u="none" dirty="0" err="1">
                <a:solidFill>
                  <a:srgbClr val="38BDF8"/>
                </a:solidFill>
                <a:latin typeface="Inter"/>
              </a:rPr>
              <a:t>Mapeamento</a:t>
            </a:r>
            <a:r>
              <a:rPr sz="3000" b="1" i="0" u="none" dirty="0">
                <a:solidFill>
                  <a:srgbClr val="38BDF8"/>
                </a:solidFill>
                <a:latin typeface="Inter"/>
              </a:rPr>
              <a:t> Final \phi(X</a:t>
            </a:r>
            <a:r>
              <a:rPr lang="pt-BR" sz="3000" b="1" i="0" u="none" dirty="0">
                <a:solidFill>
                  <a:srgbClr val="38BDF8"/>
                </a:solidFill>
                <a:latin typeface="Inter"/>
              </a:rPr>
              <a:t>)</a:t>
            </a:r>
            <a:endParaRPr sz="30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858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683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Fira Code</vt:lpstr>
      <vt:lpstr>Inter</vt:lpstr>
      <vt:lpstr>Inter SemiBold</vt:lpstr>
      <vt:lpstr>Urbanist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Igor Oliveira Souza e Silva</cp:lastModifiedBy>
  <cp:revision>5</cp:revision>
  <dcterms:created xsi:type="dcterms:W3CDTF">2013-01-27T09:14:16Z</dcterms:created>
  <dcterms:modified xsi:type="dcterms:W3CDTF">2026-09-12T15:43:45Z</dcterms:modified>
  <cp:category/>
</cp:coreProperties>
</file>